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PyTorch port of SOCRATES, the radiation scheme Isca uses, set up exactly the way Isca calls it. The point of the talk: it gives the same answers as the Fortran, it runs on a laptop GPU, and it is differentiable.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Speed on GPUs. Gradients, which Fortran does not give you. And fidelity: this is not a simplified radiation scheme, it is the one Isca actually runs, so anything learned with it transfers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is deliberately "Isca's configuration", not all of SOCRATES. I traced the Fortran at run time to get the exact list of routines Isca's settings use, about 25 per spectral region, and ported those. Anything else raises an error rather than silently doing something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matters more than any single number. I built the Met Office Fortran with the same flags Isca uses, wrapped it in a driver that calls it exactly as Isca does, and never moved to the next stage until the previous one matched. Stage 3 used a copy of the Fortran instrumented to dump its intermediate arrays, so a mismatch could be located to one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Fortran loops over bands, then k-terms, then columns. On a GPU that is the wrong shape. Every band and k-term pair becomes a "g-point" in one tensor dimension, so all 122 are solved together; the only loop left is the recurrence through the layers. The same code runs on any device and supports automatic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double precision on CPU the port reproduces the Fortran to round-off, across standard atmospheres, 10 to 90 levels, dry and cold, hot and high-CO2, and deliberately extreme inputs. Where the longwave differs at all, I measured how much the Fortran's own answer moves when exp is perturbed by the smallest possible amount; the port sits well inside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GPUs only support single precision. A line-by-line port lost about 0.1 W/m², because SOCRATES subtracts nearly equal numbers in thin layers and its tolerances scale with machine epsilon. Rewriting those expressions to avoid the cancellation brought the error down fifty-fold in flux and about four hundred-fold in heating rate. Float64 still uses the exact Fortran formulas, which is what the validation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time only the radiation calculation, with inputs already loaded: no file reading. The Fortran is split across independent processes, the way Isca's MPI decomposition splits columns, and calls SOCRATES 16 columns at a time as Isca does; all processes start together and the slowest one sets the time. The "equivalent cores" figure is the single-core Fortran time divided by the GPU time. The honest conclusion is that on an M3 Max the GPU version is about as fast as 3 to 6 Fortran cores and 2 to 3 times slower than all 12. Measured on mains power with High Power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finding is probably the most relevant for anyone using Isca: turning gases off in the namelist does not turn them off, because the spectral file is never compressed. For next steps, the missing pieces are all on the Isca side rather than in the radiation core. The last bullet is where to say what this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C4B8"/>
                </a:solidFill>
                <a:latin typeface="IBM Plex Sans" pitchFamily="34" charset="0"/>
                <a:ea typeface="IBM Plex Sans" pitchFamily="34" charset="-122"/>
                <a:cs typeface="IBM Plex Sans" pitchFamily="34" charset="-120"/>
              </a:rPr>
              <a:t>RADIATIVE TRANSFER · ISCA · PYTORCH</a:t>
            </a:r>
            <a:endParaRPr lang="en-US" sz="1200" dirty="0"/>
          </a:p>
        </p:txBody>
      </p:sp>
      <p:sp>
        <p:nvSpPr>
          <p:cNvPr id="3" name="Text 1"/>
          <p:cNvSpPr/>
          <p:nvPr/>
        </p:nvSpPr>
        <p:spPr>
          <a:xfrm>
            <a:off x="812800" y="220856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1EEE6"/>
                </a:solidFill>
                <a:latin typeface="Source Serif 4" pitchFamily="34" charset="0"/>
                <a:ea typeface="Source Serif 4" pitchFamily="34" charset="-122"/>
                <a:cs typeface="Source Serif 4" pitchFamily="34" charset="-120"/>
              </a:rPr>
              <a:t>PySoc: SOCRATES radiation in PyTorch</a:t>
            </a:r>
            <a:endParaRPr lang="en-US" sz="5600" dirty="0"/>
          </a:p>
        </p:txBody>
      </p:sp>
      <p:sp>
        <p:nvSpPr>
          <p:cNvPr id="4" name="Text 2"/>
          <p:cNvSpPr/>
          <p:nvPr/>
        </p:nvSpPr>
        <p:spPr>
          <a:xfrm>
            <a:off x="812800" y="3956000"/>
            <a:ext cx="91567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4CC"/>
                </a:solidFill>
                <a:latin typeface="IBM Plex Sans" pitchFamily="34" charset="0"/>
                <a:ea typeface="IBM Plex Sans" pitchFamily="34" charset="-122"/>
                <a:cs typeface="IBM Plex Sans" pitchFamily="34" charset="-120"/>
              </a:rPr>
              <a:t>The Met Office radiative transfer code, configured exactly as Isca runs it, running on CPU and GPU and checked against the original Fortran at every step.</a:t>
            </a:r>
            <a:endParaRPr lang="en-US" sz="1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C"/>
                </a:solidFill>
                <a:latin typeface="IBM Plex Sans" pitchFamily="34" charset="0"/>
                <a:ea typeface="IBM Plex Sans" pitchFamily="34" charset="-122"/>
                <a:cs typeface="IBM Plex Sans" pitchFamily="34" charset="-120"/>
              </a:rPr>
              <a:t>[Your name] · [Group or advisor] · [Date]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Why put Isca's radiation on a GPU?</a:t>
            </a:r>
            <a:endParaRPr lang="en-US" sz="3200" dirty="0"/>
          </a:p>
        </p:txBody>
      </p:sp>
      <p:sp>
        <p:nvSpPr>
          <p:cNvPr id="3" name="Text 1"/>
          <p:cNvSpPr/>
          <p:nvPr/>
        </p:nvSpPr>
        <p:spPr>
          <a:xfrm>
            <a:off x="812800" y="15341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SOCRATES is the Met Office radiation code, and one of the radiation schemes Isca can run.</a:t>
            </a:r>
            <a:endParaRPr lang="en-US" sz="1500" dirty="0"/>
          </a:p>
        </p:txBody>
      </p:sp>
      <p:sp>
        <p:nvSpPr>
          <p:cNvPr id="4" name="Shape 2"/>
          <p:cNvSpPr/>
          <p:nvPr/>
        </p:nvSpPr>
        <p:spPr>
          <a:xfrm>
            <a:off x="815975" y="2057995"/>
            <a:ext cx="3346450" cy="2223740"/>
          </a:xfrm>
          <a:prstGeom prst="roundRect">
            <a:avLst>
              <a:gd name="adj" fmla="val 4426"/>
            </a:avLst>
          </a:prstGeom>
          <a:solidFill>
            <a:srgbClr val="FDFCF9"/>
          </a:solidFill>
          <a:ln w="6350">
            <a:solidFill>
              <a:srgbClr val="DDD8CC"/>
            </a:solidFill>
            <a:prstDash val="solid"/>
          </a:ln>
        </p:spPr>
      </p:sp>
      <p:sp>
        <p:nvSpPr>
          <p:cNvPr id="5" name="Text 3"/>
          <p:cNvSpPr/>
          <p:nvPr/>
        </p:nvSpPr>
        <p:spPr>
          <a:xfrm>
            <a:off x="1073150" y="2315170"/>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Speed</a:t>
            </a:r>
            <a:endParaRPr lang="en-US" sz="1800" dirty="0"/>
          </a:p>
        </p:txBody>
      </p:sp>
      <p:sp>
        <p:nvSpPr>
          <p:cNvPr id="6" name="Text 4"/>
          <p:cNvSpPr/>
          <p:nvPr/>
        </p:nvSpPr>
        <p:spPr>
          <a:xfrm>
            <a:off x="1073150" y="2691061"/>
            <a:ext cx="2917063"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Radiation is one of the more expensive parts of a model time step. A GPU can solve every column and spectral term together.</a:t>
            </a:r>
            <a:endParaRPr lang="en-US" sz="1500" dirty="0"/>
          </a:p>
        </p:txBody>
      </p:sp>
      <p:sp>
        <p:nvSpPr>
          <p:cNvPr id="7" name="Shape 5"/>
          <p:cNvSpPr/>
          <p:nvPr/>
        </p:nvSpPr>
        <p:spPr>
          <a:xfrm>
            <a:off x="4422775" y="2057995"/>
            <a:ext cx="3346450" cy="2223740"/>
          </a:xfrm>
          <a:prstGeom prst="roundRect">
            <a:avLst>
              <a:gd name="adj" fmla="val 4426"/>
            </a:avLst>
          </a:prstGeom>
          <a:solidFill>
            <a:srgbClr val="FDFCF9"/>
          </a:solidFill>
          <a:ln w="6350">
            <a:solidFill>
              <a:srgbClr val="DDD8CC"/>
            </a:solidFill>
            <a:prstDash val="solid"/>
          </a:ln>
        </p:spPr>
      </p:sp>
      <p:sp>
        <p:nvSpPr>
          <p:cNvPr id="8" name="Text 6"/>
          <p:cNvSpPr/>
          <p:nvPr/>
        </p:nvSpPr>
        <p:spPr>
          <a:xfrm>
            <a:off x="4679950" y="2315170"/>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Gradients</a:t>
            </a:r>
            <a:endParaRPr lang="en-US" sz="1800" dirty="0"/>
          </a:p>
        </p:txBody>
      </p:sp>
      <p:sp>
        <p:nvSpPr>
          <p:cNvPr id="9" name="Text 7"/>
          <p:cNvSpPr/>
          <p:nvPr/>
        </p:nvSpPr>
        <p:spPr>
          <a:xfrm>
            <a:off x="4679950" y="2691061"/>
            <a:ext cx="2917063"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Derivatives of fluxes and heating rates with respect to temperature, humidity and clouds, for sensitivity studies, tuning and emulators.</a:t>
            </a:r>
            <a:endParaRPr lang="en-US" sz="1500" dirty="0"/>
          </a:p>
        </p:txBody>
      </p:sp>
      <p:sp>
        <p:nvSpPr>
          <p:cNvPr id="10" name="Shape 8"/>
          <p:cNvSpPr/>
          <p:nvPr/>
        </p:nvSpPr>
        <p:spPr>
          <a:xfrm>
            <a:off x="8029575" y="2057995"/>
            <a:ext cx="3346450" cy="2223740"/>
          </a:xfrm>
          <a:prstGeom prst="roundRect">
            <a:avLst>
              <a:gd name="adj" fmla="val 4426"/>
            </a:avLst>
          </a:prstGeom>
          <a:solidFill>
            <a:srgbClr val="FDFCF9"/>
          </a:solidFill>
          <a:ln w="6350">
            <a:solidFill>
              <a:srgbClr val="DDD8CC"/>
            </a:solidFill>
            <a:prstDash val="solid"/>
          </a:ln>
        </p:spPr>
      </p:sp>
      <p:sp>
        <p:nvSpPr>
          <p:cNvPr id="11" name="Text 9"/>
          <p:cNvSpPr/>
          <p:nvPr/>
        </p:nvSpPr>
        <p:spPr>
          <a:xfrm>
            <a:off x="8286750" y="2315170"/>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Fidelity</a:t>
            </a:r>
            <a:endParaRPr lang="en-US" sz="1800" dirty="0"/>
          </a:p>
        </p:txBody>
      </p:sp>
      <p:sp>
        <p:nvSpPr>
          <p:cNvPr id="12" name="Text 10"/>
          <p:cNvSpPr/>
          <p:nvPr/>
        </p:nvSpPr>
        <p:spPr>
          <a:xfrm>
            <a:off x="8286750" y="2691061"/>
            <a:ext cx="291706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An exact copy of the scheme Isca runs, with the same spectral files, so results carry straight back to the model.</a:t>
            </a:r>
            <a:endParaRPr lang="en-US" sz="1500" dirty="0"/>
          </a:p>
        </p:txBody>
      </p:sp>
      <p:sp>
        <p:nvSpPr>
          <p:cNvPr id="13" name="Text 11"/>
          <p:cNvSpPr/>
          <p:nvPr/>
        </p:nvSpPr>
        <p:spPr>
          <a:xfrm>
            <a:off x="812800" y="453891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F6B63"/>
                </a:solidFill>
                <a:latin typeface="IBM Plex Sans" pitchFamily="34" charset="0"/>
                <a:ea typeface="IBM Plex Sans" pitchFamily="34" charset="-122"/>
                <a:cs typeface="IBM Plex Sans" pitchFamily="34" charset="-120"/>
              </a:rPr>
              <a:t>Goal: fast and differentiable, without losing fidelity to the Fortran.</a:t>
            </a:r>
            <a:endParaRPr lang="en-US" sz="18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What was ported: SOCRATES as Isca runs it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34120"/>
          <a:ext cx="10566400" cy="3764012"/>
        </p:xfrm>
        <a:graphic>
          <a:graphicData uri="http://schemas.openxmlformats.org/drawingml/2006/table">
            <a:tbl>
              <a:tblPr/>
              <a:tblGrid>
                <a:gridCol w="2535936"/>
                <a:gridCol w="4015232"/>
                <a:gridCol w="4015232"/>
              </a:tblGrid>
              <a:tr h="439390">
                <a:tc>
                  <a:txBody>
                    <a:bodyPr/>
                    <a:lstStyle/>
                    <a:p>
                      <a:pP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Shortwave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Longwave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Spectral file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GA7: 6 bands, 41 g-points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GA7: 9 bands, 81 g-points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Two-stream scheme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PIFM80, full scattering, Rayleigh</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Elsasser (D = 1.66), no scattering</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Gas absorption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k-terms from p/T lookup tables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Same, plus hard-coded CO2 scaling</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Minor gases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Equivalent extinction (direct beam)</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Equivalent extinction (flux-weighted)</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Surface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Grey albedo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Emissivity (albedo = 1 − ε)</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3939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Clouds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Liquid (Padé), max-random overlap</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Same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688280">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Column solver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Direct elimination; two regions with clouds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960"/>
                        </a:lnSpc>
                        <a:buNone/>
                      </a:pPr>
                      <a:r>
                        <a:rPr lang="en-US" sz="1400" dirty="0">
                          <a:solidFill>
                            <a:srgbClr val="3D4852"/>
                          </a:solidFill>
                          <a:latin typeface="IBM Plex Sans" pitchFamily="34" charset="0"/>
                          <a:ea typeface="IBM Plex Sans" pitchFamily="34" charset="-122"/>
                          <a:cs typeface="IBM Plex Sans" pitchFamily="34" charset="-120"/>
                        </a:rPr>
                        <a:t>Two-sweep recurrence; two regions with clouds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bl>
          </a:graphicData>
        </a:graphic>
      </p:graphicFrame>
      <p:sp>
        <p:nvSpPr>
          <p:cNvPr id="4" name="Text 1"/>
          <p:cNvSpPr/>
          <p:nvPr/>
        </p:nvSpPr>
        <p:spPr>
          <a:xfrm>
            <a:off x="812800" y="556483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Plus Isca's interface around it: preprocessing, the LW call, the temperature update, the SW call and the soc_* diagnostics.</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3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Each stage checked against the Fortran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34120"/>
          <a:ext cx="10566400" cy="3566071"/>
        </p:xfrm>
        <a:graphic>
          <a:graphicData uri="http://schemas.openxmlformats.org/drawingml/2006/table">
            <a:tbl>
              <a:tblPr/>
              <a:tblGrid>
                <a:gridCol w="633984"/>
                <a:gridCol w="2324608"/>
                <a:gridCol w="4649216"/>
                <a:gridCol w="2958592"/>
              </a:tblGrid>
              <a:tr h="396230">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Stage</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Compared with</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1820"/>
                        </a:lnSpc>
                        <a:buNone/>
                      </a:pPr>
                      <a:r>
                        <a:rPr lang="en-US" sz="1300" b="1" dirty="0">
                          <a:solidFill>
                            <a:srgbClr val="14202B"/>
                          </a:solidFill>
                          <a:latin typeface="IBM Plex Sans" pitchFamily="34" charset="0"/>
                          <a:ea typeface="IBM Plex Sans" pitchFamily="34" charset="-122"/>
                          <a:cs typeface="IBM Plex Sans" pitchFamily="34" charset="-120"/>
                        </a:rPr>
                        <a:t>Result</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Reference build</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Isca's compiler flags; traced call tree</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Exact routine list</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Spectral files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Arrays read by SOCRATES itself</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Bitwise identical</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Two-stream kernels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Each routine on random and edge-case inputs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98–99% bitwise</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Gas and grey optics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Dumps from an instrumented Fortran build</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All 122 g-points match</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Column fluxes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Fluxes, band fluxes, heating rates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SW 1e-9, LW 2e-8 W/m²</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GPU, float32, gradients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The float64 port; finite differences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float32 within 0.002 W/m²</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Isca interface</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Isca's preprocessing, copied verbatim</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Matches end to end</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396230">
                <a:tc>
                  <a:txBody>
                    <a:bodyPr/>
                    <a:lstStyle/>
                    <a:p>
                      <a:pPr indent="0" marL="0">
                        <a:lnSpc>
                          <a:spcPts val="1820"/>
                        </a:lnSpc>
                        <a:buNone/>
                      </a:pPr>
                      <a:r>
                        <a:rPr lang="en-US" sz="1300" dirty="0">
                          <a:solidFill>
                            <a:srgbClr val="1F6B63"/>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Liquid clouds</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Fortran with clouds switched on</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1820"/>
                        </a:lnSpc>
                        <a:buNone/>
                      </a:pPr>
                      <a:r>
                        <a:rPr lang="en-US" sz="1300" dirty="0">
                          <a:solidFill>
                            <a:srgbClr val="3D4852"/>
                          </a:solidFill>
                          <a:latin typeface="IBM Plex Sans" pitchFamily="34" charset="0"/>
                          <a:ea typeface="IBM Plex Sans" pitchFamily="34" charset="-122"/>
                          <a:cs typeface="IBM Plex Sans" pitchFamily="34" charset="-120"/>
                        </a:rPr>
                        <a:t>All-sky and clear match</a:t>
                      </a:r>
                      <a:endParaRPr lang="en-US" sz="1300" dirty="0">
                        <a:latin typeface="IBM Plex Sans" charset="0"/>
                        <a:ea typeface="IBM Plex Sans" charset="0"/>
                        <a:cs typeface="IBM Plex Sans" charset="0"/>
                      </a:endParaRPr>
                    </a:p>
                  </a:txBody>
                  <a:tcPr marL="127000" marR="127000" marT="76200" marB="762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bl>
          </a:graphicData>
        </a:graphic>
      </p:graphicFrame>
      <p:sp>
        <p:nvSpPr>
          <p:cNvPr id="4" name="Text 1"/>
          <p:cNvSpPr/>
          <p:nvPr/>
        </p:nvSpPr>
        <p:spPr>
          <a:xfrm>
            <a:off x="812800" y="536689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101 automated tests; the Fortran reference rebuilds from source with one script.</a:t>
            </a:r>
            <a:endParaRPr lang="en-US" sz="15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4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One batched solve instead of nested loops</a:t>
            </a:r>
            <a:endParaRPr lang="en-US" sz="3200" dirty="0"/>
          </a:p>
        </p:txBody>
      </p:sp>
      <p:sp>
        <p:nvSpPr>
          <p:cNvPr id="3" name="Shape 1"/>
          <p:cNvSpPr/>
          <p:nvPr/>
        </p:nvSpPr>
        <p:spPr>
          <a:xfrm>
            <a:off x="812800" y="1534120"/>
            <a:ext cx="4724400" cy="1741140"/>
          </a:xfrm>
          <a:prstGeom prst="roundRect">
            <a:avLst>
              <a:gd name="adj" fmla="val 5835"/>
            </a:avLst>
          </a:prstGeom>
          <a:solidFill>
            <a:srgbClr val="E9E5DA"/>
          </a:solidFill>
          <a:ln/>
        </p:spPr>
      </p:sp>
      <p:sp>
        <p:nvSpPr>
          <p:cNvPr id="4" name="Text 2"/>
          <p:cNvSpPr/>
          <p:nvPr/>
        </p:nvSpPr>
        <p:spPr>
          <a:xfrm>
            <a:off x="1066800" y="1788120"/>
            <a:ext cx="43428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SOCRATES (Fortran)</a:t>
            </a:r>
            <a:endParaRPr lang="en-US" sz="1800" dirty="0"/>
          </a:p>
        </p:txBody>
      </p:sp>
      <p:sp>
        <p:nvSpPr>
          <p:cNvPr id="5" name="Text 3"/>
          <p:cNvSpPr/>
          <p:nvPr/>
        </p:nvSpPr>
        <p:spPr>
          <a:xfrm>
            <a:off x="1066800" y="2164011"/>
            <a:ext cx="4342892"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4202B"/>
                </a:solidFill>
                <a:latin typeface="IBM Plex Mono" pitchFamily="34" charset="0"/>
                <a:ea typeface="IBM Plex Mono" pitchFamily="34" charset="-122"/>
                <a:cs typeface="IBM Plex Mono" pitchFamily="34" charset="-120"/>
              </a:rPr>
              <a:t>do i_band = 1, n_band</a:t>
            </a:r>
            <a:endParaRPr lang="en-US" sz="1500" dirty="0"/>
          </a:p>
          <a:p>
            <a:pPr algn="l" indent="0" marL="0">
              <a:lnSpc>
                <a:spcPts val="2250"/>
              </a:lnSpc>
              <a:buNone/>
            </a:pPr>
            <a:r>
              <a:rPr lang="en-US" sz="1500" dirty="0">
                <a:solidFill>
                  <a:srgbClr val="14202B"/>
                </a:solidFill>
                <a:latin typeface="IBM Plex Mono" pitchFamily="34" charset="0"/>
                <a:ea typeface="IBM Plex Mono" pitchFamily="34" charset="-122"/>
                <a:cs typeface="IBM Plex Mono" pitchFamily="34" charset="-120"/>
              </a:rPr>
              <a:t>  do k = 1, n_k(i_band)</a:t>
            </a:r>
            <a:endParaRPr lang="en-US" sz="1500" dirty="0"/>
          </a:p>
          <a:p>
            <a:pPr algn="l" indent="0" marL="0">
              <a:lnSpc>
                <a:spcPts val="2250"/>
              </a:lnSpc>
              <a:buNone/>
            </a:pPr>
            <a:r>
              <a:rPr lang="en-US" sz="1500" dirty="0">
                <a:solidFill>
                  <a:srgbClr val="14202B"/>
                </a:solidFill>
                <a:latin typeface="IBM Plex Mono" pitchFamily="34" charset="0"/>
                <a:ea typeface="IBM Plex Mono" pitchFamily="34" charset="-122"/>
                <a:cs typeface="IBM Plex Mono" pitchFamily="34" charset="-120"/>
              </a:rPr>
              <a:t>    call solve(columns)</a:t>
            </a:r>
            <a:endParaRPr lang="en-US" sz="1500" dirty="0"/>
          </a:p>
        </p:txBody>
      </p:sp>
      <p:pic>
        <p:nvPicPr>
          <p:cNvPr id="6" name="Image 0" descr="arrow-right">    </p:cNvPr>
          <p:cNvPicPr>
            <a:picLocks noChangeAspect="1"/>
          </p:cNvPicPr>
          <p:nvPr/>
        </p:nvPicPr>
        <p:blipFill>
          <a:blip r:embed="rId1"/>
          <a:srcRect l="0" r="0" t="0" b="0"/>
          <a:stretch/>
        </p:blipFill>
        <p:spPr>
          <a:xfrm>
            <a:off x="5791200" y="2252266"/>
            <a:ext cx="609600" cy="304800"/>
          </a:xfrm>
          <a:prstGeom prst="rect">
            <a:avLst/>
          </a:prstGeom>
        </p:spPr>
      </p:pic>
      <p:sp>
        <p:nvSpPr>
          <p:cNvPr id="7" name="Shape 4"/>
          <p:cNvSpPr/>
          <p:nvPr/>
        </p:nvSpPr>
        <p:spPr>
          <a:xfrm>
            <a:off x="6654800" y="1534120"/>
            <a:ext cx="4724400" cy="1741140"/>
          </a:xfrm>
          <a:prstGeom prst="roundRect">
            <a:avLst>
              <a:gd name="adj" fmla="val 5835"/>
            </a:avLst>
          </a:prstGeom>
          <a:solidFill>
            <a:srgbClr val="14202B"/>
          </a:solidFill>
          <a:ln/>
        </p:spPr>
      </p:sp>
      <p:sp>
        <p:nvSpPr>
          <p:cNvPr id="8" name="Text 5"/>
          <p:cNvSpPr/>
          <p:nvPr/>
        </p:nvSpPr>
        <p:spPr>
          <a:xfrm>
            <a:off x="6908800" y="1788120"/>
            <a:ext cx="43428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1EEE6"/>
                </a:solidFill>
                <a:latin typeface="IBM Plex Sans" pitchFamily="34" charset="0"/>
                <a:ea typeface="IBM Plex Sans" pitchFamily="34" charset="-122"/>
                <a:cs typeface="IBM Plex Sans" pitchFamily="34" charset="-120"/>
              </a:rPr>
              <a:t>PySoc (PyTorch)</a:t>
            </a:r>
            <a:endParaRPr lang="en-US" sz="1800" dirty="0"/>
          </a:p>
        </p:txBody>
      </p:sp>
      <p:sp>
        <p:nvSpPr>
          <p:cNvPr id="9" name="Text 6"/>
          <p:cNvSpPr/>
          <p:nvPr/>
        </p:nvSpPr>
        <p:spPr>
          <a:xfrm>
            <a:off x="6908800" y="2164011"/>
            <a:ext cx="4342892"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1EEE6"/>
                </a:solidFill>
                <a:latin typeface="IBM Plex Mono" pitchFamily="34" charset="0"/>
                <a:ea typeface="IBM Plex Mono" pitchFamily="34" charset="-122"/>
                <a:cs typeface="IBM Plex Mono" pitchFamily="34" charset="-120"/>
              </a:rPr>
              <a:t>tau = gas_optics(atm)</a:t>
            </a:r>
            <a:endParaRPr lang="en-US" sz="1500" dirty="0"/>
          </a:p>
          <a:p>
            <a:pPr algn="l" indent="0" marL="0">
              <a:lnSpc>
                <a:spcPts val="2250"/>
              </a:lnSpc>
              <a:buNone/>
            </a:pPr>
            <a:r>
              <a:rPr lang="en-US" sz="1500" dirty="0">
                <a:solidFill>
                  <a:srgbClr val="7FC4B8"/>
                </a:solidFill>
                <a:latin typeface="IBM Plex Mono" pitchFamily="34" charset="0"/>
                <a:ea typeface="IBM Plex Mono" pitchFamily="34" charset="-122"/>
                <a:cs typeface="IBM Plex Mono" pitchFamily="34" charset="-120"/>
              </a:rPr>
              <a:t># [g-point, column, layer]</a:t>
            </a:r>
            <a:endParaRPr lang="en-US" sz="1500" dirty="0"/>
          </a:p>
          <a:p>
            <a:pPr algn="l" indent="0" marL="0">
              <a:lnSpc>
                <a:spcPts val="2250"/>
              </a:lnSpc>
              <a:buNone/>
            </a:pPr>
            <a:r>
              <a:rPr lang="en-US" sz="1500" dirty="0">
                <a:solidFill>
                  <a:srgbClr val="F1EEE6"/>
                </a:solidFill>
                <a:latin typeface="IBM Plex Mono" pitchFamily="34" charset="0"/>
                <a:ea typeface="IBM Plex Mono" pitchFamily="34" charset="-122"/>
                <a:cs typeface="IBM Plex Mono" pitchFamily="34" charset="-120"/>
              </a:rPr>
              <a:t>flux = two_stream(tau)</a:t>
            </a:r>
            <a:endParaRPr lang="en-US" sz="1500" dirty="0"/>
          </a:p>
        </p:txBody>
      </p:sp>
      <p:sp>
        <p:nvSpPr>
          <p:cNvPr id="10" name="Shape 7"/>
          <p:cNvSpPr/>
          <p:nvPr/>
        </p:nvSpPr>
        <p:spPr>
          <a:xfrm>
            <a:off x="815975" y="3532436"/>
            <a:ext cx="3346450" cy="1664940"/>
          </a:xfrm>
          <a:prstGeom prst="roundRect">
            <a:avLst>
              <a:gd name="adj" fmla="val 5912"/>
            </a:avLst>
          </a:prstGeom>
          <a:solidFill>
            <a:srgbClr val="FDFCF9"/>
          </a:solidFill>
          <a:ln w="6350">
            <a:solidFill>
              <a:srgbClr val="DDD8CC"/>
            </a:solidFill>
            <a:prstDash val="solid"/>
          </a:ln>
        </p:spPr>
      </p:sp>
      <p:sp>
        <p:nvSpPr>
          <p:cNvPr id="11" name="Text 8"/>
          <p:cNvSpPr/>
          <p:nvPr/>
        </p:nvSpPr>
        <p:spPr>
          <a:xfrm>
            <a:off x="1073150" y="3789611"/>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122 g-points at once</a:t>
            </a:r>
            <a:endParaRPr lang="en-US" sz="1800" dirty="0"/>
          </a:p>
        </p:txBody>
      </p:sp>
      <p:sp>
        <p:nvSpPr>
          <p:cNvPr id="12" name="Text 9"/>
          <p:cNvSpPr/>
          <p:nvPr/>
        </p:nvSpPr>
        <p:spPr>
          <a:xfrm>
            <a:off x="1073150" y="4140101"/>
            <a:ext cx="291706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41 SW and 81 LW spectral terms share one tensor dimension.</a:t>
            </a:r>
            <a:endParaRPr lang="en-US" sz="1500" dirty="0"/>
          </a:p>
        </p:txBody>
      </p:sp>
      <p:sp>
        <p:nvSpPr>
          <p:cNvPr id="13" name="Shape 10"/>
          <p:cNvSpPr/>
          <p:nvPr/>
        </p:nvSpPr>
        <p:spPr>
          <a:xfrm>
            <a:off x="4422775" y="3532436"/>
            <a:ext cx="3346450" cy="1664940"/>
          </a:xfrm>
          <a:prstGeom prst="roundRect">
            <a:avLst>
              <a:gd name="adj" fmla="val 5912"/>
            </a:avLst>
          </a:prstGeom>
          <a:solidFill>
            <a:srgbClr val="FDFCF9"/>
          </a:solidFill>
          <a:ln w="6350">
            <a:solidFill>
              <a:srgbClr val="DDD8CC"/>
            </a:solidFill>
            <a:prstDash val="solid"/>
          </a:ln>
        </p:spPr>
      </p:sp>
      <p:sp>
        <p:nvSpPr>
          <p:cNvPr id="14" name="Text 11"/>
          <p:cNvSpPr/>
          <p:nvPr/>
        </p:nvSpPr>
        <p:spPr>
          <a:xfrm>
            <a:off x="4679950" y="3789611"/>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Layer loop only</a:t>
            </a:r>
            <a:endParaRPr lang="en-US" sz="1800" dirty="0"/>
          </a:p>
        </p:txBody>
      </p:sp>
      <p:sp>
        <p:nvSpPr>
          <p:cNvPr id="15" name="Text 12"/>
          <p:cNvSpPr/>
          <p:nvPr/>
        </p:nvSpPr>
        <p:spPr>
          <a:xfrm>
            <a:off x="4679950" y="4140101"/>
            <a:ext cx="29170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The sweep down and up the column is the only remaining loop.</a:t>
            </a:r>
            <a:endParaRPr lang="en-US" sz="1500" dirty="0"/>
          </a:p>
        </p:txBody>
      </p:sp>
      <p:sp>
        <p:nvSpPr>
          <p:cNvPr id="16" name="Shape 13"/>
          <p:cNvSpPr/>
          <p:nvPr/>
        </p:nvSpPr>
        <p:spPr>
          <a:xfrm>
            <a:off x="8029575" y="3532436"/>
            <a:ext cx="3346450" cy="1664940"/>
          </a:xfrm>
          <a:prstGeom prst="roundRect">
            <a:avLst>
              <a:gd name="adj" fmla="val 5912"/>
            </a:avLst>
          </a:prstGeom>
          <a:solidFill>
            <a:srgbClr val="FDFCF9"/>
          </a:solidFill>
          <a:ln w="6350">
            <a:solidFill>
              <a:srgbClr val="DDD8CC"/>
            </a:solidFill>
            <a:prstDash val="solid"/>
          </a:ln>
        </p:spPr>
      </p:sp>
      <p:sp>
        <p:nvSpPr>
          <p:cNvPr id="17" name="Text 14"/>
          <p:cNvSpPr/>
          <p:nvPr/>
        </p:nvSpPr>
        <p:spPr>
          <a:xfrm>
            <a:off x="8286750" y="3789611"/>
            <a:ext cx="29170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One code, any device</a:t>
            </a:r>
            <a:endParaRPr lang="en-US" sz="1800" dirty="0"/>
          </a:p>
        </p:txBody>
      </p:sp>
      <p:sp>
        <p:nvSpPr>
          <p:cNvPr id="18" name="Text 15"/>
          <p:cNvSpPr/>
          <p:nvPr/>
        </p:nvSpPr>
        <p:spPr>
          <a:xfrm>
            <a:off x="8286750" y="4140101"/>
            <a:ext cx="291706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CPU, CUDA or Apple MPS; float64 or float32; autograd throughout.</a:t>
            </a:r>
            <a:endParaRPr lang="en-US" sz="15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5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1EEE6"/>
                </a:solidFill>
                <a:latin typeface="Source Serif 4" pitchFamily="34" charset="0"/>
                <a:ea typeface="Source Serif 4" pitchFamily="34" charset="-122"/>
                <a:cs typeface="Source Serif 4" pitchFamily="34" charset="-120"/>
              </a:rPr>
              <a:t>Float64 matches the Fortran to round-off</a:t>
            </a:r>
            <a:endParaRPr lang="en-US" sz="3200" dirty="0"/>
          </a:p>
        </p:txBody>
      </p:sp>
      <p:sp>
        <p:nvSpPr>
          <p:cNvPr id="3" name="Shape 1"/>
          <p:cNvSpPr/>
          <p:nvPr/>
        </p:nvSpPr>
        <p:spPr>
          <a:xfrm>
            <a:off x="812800" y="2519660"/>
            <a:ext cx="3352800" cy="0"/>
          </a:xfrm>
          <a:prstGeom prst="line">
            <a:avLst/>
          </a:prstGeom>
          <a:noFill/>
          <a:ln w="25400">
            <a:solidFill>
              <a:srgbClr val="7FC4B8"/>
            </a:solidFill>
            <a:prstDash val="solid"/>
          </a:ln>
        </p:spPr>
      </p:sp>
      <p:sp>
        <p:nvSpPr>
          <p:cNvPr id="4" name="Text 2"/>
          <p:cNvSpPr/>
          <p:nvPr/>
        </p:nvSpPr>
        <p:spPr>
          <a:xfrm>
            <a:off x="812800" y="2735560"/>
            <a:ext cx="3453384"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7FC4B8"/>
                </a:solidFill>
                <a:latin typeface="Source Serif 4" pitchFamily="34" charset="0"/>
                <a:ea typeface="Source Serif 4" pitchFamily="34" charset="-122"/>
                <a:cs typeface="Source Serif 4" pitchFamily="34" charset="-120"/>
              </a:rPr>
              <a:t>1e-9</a:t>
            </a:r>
            <a:endParaRPr lang="en-US" sz="5600" dirty="0"/>
          </a:p>
        </p:txBody>
      </p:sp>
      <p:sp>
        <p:nvSpPr>
          <p:cNvPr id="5" name="Text 3"/>
          <p:cNvSpPr/>
          <p:nvPr/>
        </p:nvSpPr>
        <p:spPr>
          <a:xfrm>
            <a:off x="812800" y="3548360"/>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C"/>
                </a:solidFill>
                <a:latin typeface="IBM Plex Sans" pitchFamily="34" charset="0"/>
                <a:ea typeface="IBM Plex Sans" pitchFamily="34" charset="-122"/>
                <a:cs typeface="IBM Plex Sans" pitchFamily="34" charset="-120"/>
              </a:rPr>
              <a:t>W/m²: largest shortwave flux difference</a:t>
            </a:r>
            <a:endParaRPr lang="en-US" sz="1500" dirty="0"/>
          </a:p>
        </p:txBody>
      </p:sp>
      <p:sp>
        <p:nvSpPr>
          <p:cNvPr id="6" name="Shape 4"/>
          <p:cNvSpPr/>
          <p:nvPr/>
        </p:nvSpPr>
        <p:spPr>
          <a:xfrm>
            <a:off x="4419600" y="2519660"/>
            <a:ext cx="3352800" cy="0"/>
          </a:xfrm>
          <a:prstGeom prst="line">
            <a:avLst/>
          </a:prstGeom>
          <a:noFill/>
          <a:ln w="25400">
            <a:solidFill>
              <a:srgbClr val="7FC4B8"/>
            </a:solidFill>
            <a:prstDash val="solid"/>
          </a:ln>
        </p:spPr>
      </p:sp>
      <p:sp>
        <p:nvSpPr>
          <p:cNvPr id="7" name="Text 5"/>
          <p:cNvSpPr/>
          <p:nvPr/>
        </p:nvSpPr>
        <p:spPr>
          <a:xfrm>
            <a:off x="4419600" y="2735560"/>
            <a:ext cx="3453384"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7FC4B8"/>
                </a:solidFill>
                <a:latin typeface="Source Serif 4" pitchFamily="34" charset="0"/>
                <a:ea typeface="Source Serif 4" pitchFamily="34" charset="-122"/>
                <a:cs typeface="Source Serif 4" pitchFamily="34" charset="-120"/>
              </a:rPr>
              <a:t>2e-8</a:t>
            </a:r>
            <a:endParaRPr lang="en-US" sz="5600" dirty="0"/>
          </a:p>
        </p:txBody>
      </p:sp>
      <p:sp>
        <p:nvSpPr>
          <p:cNvPr id="8" name="Text 6"/>
          <p:cNvSpPr/>
          <p:nvPr/>
        </p:nvSpPr>
        <p:spPr>
          <a:xfrm>
            <a:off x="4419600" y="3548360"/>
            <a:ext cx="34533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C"/>
                </a:solidFill>
                <a:latin typeface="IBM Plex Sans" pitchFamily="34" charset="0"/>
                <a:ea typeface="IBM Plex Sans" pitchFamily="34" charset="-122"/>
                <a:cs typeface="IBM Plex Sans" pitchFamily="34" charset="-120"/>
              </a:rPr>
              <a:t>W/m²: largest longwave flux difference</a:t>
            </a:r>
            <a:endParaRPr lang="en-US" sz="1500" dirty="0"/>
          </a:p>
        </p:txBody>
      </p:sp>
      <p:sp>
        <p:nvSpPr>
          <p:cNvPr id="9" name="Shape 7"/>
          <p:cNvSpPr/>
          <p:nvPr/>
        </p:nvSpPr>
        <p:spPr>
          <a:xfrm>
            <a:off x="8026400" y="2519660"/>
            <a:ext cx="3352800" cy="0"/>
          </a:xfrm>
          <a:prstGeom prst="line">
            <a:avLst/>
          </a:prstGeom>
          <a:noFill/>
          <a:ln w="25400">
            <a:solidFill>
              <a:srgbClr val="7FC4B8"/>
            </a:solidFill>
            <a:prstDash val="solid"/>
          </a:ln>
        </p:spPr>
      </p:sp>
      <p:sp>
        <p:nvSpPr>
          <p:cNvPr id="10" name="Text 8"/>
          <p:cNvSpPr/>
          <p:nvPr/>
        </p:nvSpPr>
        <p:spPr>
          <a:xfrm>
            <a:off x="8026400" y="2735560"/>
            <a:ext cx="3453384"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7FC4B8"/>
                </a:solidFill>
                <a:latin typeface="Source Serif 4" pitchFamily="34" charset="0"/>
                <a:ea typeface="Source Serif 4" pitchFamily="34" charset="-122"/>
                <a:cs typeface="Source Serif 4" pitchFamily="34" charset="-120"/>
              </a:rPr>
              <a:t>101</a:t>
            </a:r>
            <a:endParaRPr lang="en-US" sz="5600" dirty="0"/>
          </a:p>
        </p:txBody>
      </p:sp>
      <p:sp>
        <p:nvSpPr>
          <p:cNvPr id="11" name="Text 9"/>
          <p:cNvSpPr/>
          <p:nvPr/>
        </p:nvSpPr>
        <p:spPr>
          <a:xfrm>
            <a:off x="8026400" y="3548360"/>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C"/>
                </a:solidFill>
                <a:latin typeface="IBM Plex Sans" pitchFamily="34" charset="0"/>
                <a:ea typeface="IBM Plex Sans" pitchFamily="34" charset="-122"/>
                <a:cs typeface="IBM Plex Sans" pitchFamily="34" charset="-120"/>
              </a:rPr>
              <a:t>automated tests across eight validation stages</a:t>
            </a:r>
            <a:endParaRPr lang="en-US" sz="1500" dirty="0"/>
          </a:p>
        </p:txBody>
      </p:sp>
      <p:sp>
        <p:nvSpPr>
          <p:cNvPr id="12" name="Text 10"/>
          <p:cNvSpPr/>
          <p:nvPr/>
        </p:nvSpPr>
        <p:spPr>
          <a:xfrm>
            <a:off x="812800" y="53086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4CC"/>
                </a:solidFill>
                <a:latin typeface="IBM Plex Sans" pitchFamily="34" charset="0"/>
                <a:ea typeface="IBM Plex Sans" pitchFamily="34" charset="-122"/>
                <a:cs typeface="IBM Plex Sans" pitchFamily="34" charset="-120"/>
              </a:rPr>
              <a:t>The longwave limit is 5× tighter than the change a one-ulp perturbation of exp() causes in the Fortran itself: thin-layer source terms cancel, so closer agreement would not be meaningful.</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3"/>
                </a:solidFill>
                <a:latin typeface="IBM Plex Sans" pitchFamily="34" charset="0"/>
                <a:ea typeface="IBM Plex Sans" pitchFamily="34" charset="-122"/>
                <a:cs typeface="IBM Plex Sans" pitchFamily="34" charset="-120"/>
              </a:rPr>
              <a:t>PySoc · 6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Float32 on Apple GPUs needed numerical rework</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34120"/>
          <a:ext cx="4895850" cy="1447800"/>
        </p:xfrm>
        <a:graphic>
          <a:graphicData uri="http://schemas.openxmlformats.org/drawingml/2006/table">
            <a:tbl>
              <a:tblPr/>
              <a:tblGrid>
                <a:gridCol w="1762506"/>
                <a:gridCol w="1566672"/>
                <a:gridCol w="1566672"/>
              </a:tblGrid>
              <a:tr h="482600">
                <a:tc>
                  <a:txBody>
                    <a:bodyPr/>
                    <a:lstStyle/>
                    <a:p>
                      <a:pPr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Largest error</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Literal port</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c>
                  <a:txBody>
                    <a:bodyPr/>
                    <a:lstStyle/>
                    <a:p>
                      <a:pPr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Reworked</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solidFill>
                      <a:srgbClr val="E9E5DA"/>
                    </a:solidFill>
                  </a:tcPr>
                </a:tc>
              </a:tr>
              <a:tr h="48260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Flux</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0.1 W/m²</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2100"/>
                        </a:lnSpc>
                        <a:buNone/>
                      </a:pPr>
                      <a:r>
                        <a:rPr lang="en-US" sz="1500" dirty="0">
                          <a:solidFill>
                            <a:srgbClr val="1F6B63"/>
                          </a:solidFill>
                          <a:latin typeface="IBM Plex Sans" pitchFamily="34" charset="0"/>
                          <a:ea typeface="IBM Plex Sans" pitchFamily="34" charset="-122"/>
                          <a:cs typeface="IBM Plex Sans" pitchFamily="34" charset="-120"/>
                        </a:rPr>
                        <a:t>0.002 W/m²</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r h="482600">
                <a:tc>
                  <a:txBody>
                    <a:bodyPr/>
                    <a:lstStyle/>
                    <a:p>
                      <a:pPr indent="0" marL="0">
                        <a:lnSpc>
                          <a:spcPts val="2100"/>
                        </a:lnSpc>
                        <a:buNone/>
                      </a:pPr>
                      <a:r>
                        <a:rPr lang="en-US" sz="1500" dirty="0">
                          <a:solidFill>
                            <a:srgbClr val="14202B"/>
                          </a:solidFill>
                          <a:latin typeface="IBM Plex Sans" pitchFamily="34" charset="0"/>
                          <a:ea typeface="IBM Plex Sans" pitchFamily="34" charset="-122"/>
                          <a:cs typeface="IBM Plex Sans" pitchFamily="34" charset="-120"/>
                        </a:rPr>
                        <a:t>Heating rate</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0.065 K/day</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c>
                  <a:txBody>
                    <a:bodyPr/>
                    <a:lstStyle/>
                    <a:p>
                      <a:pPr indent="0" marL="0">
                        <a:lnSpc>
                          <a:spcPts val="2100"/>
                        </a:lnSpc>
                        <a:buNone/>
                      </a:pPr>
                      <a:r>
                        <a:rPr lang="en-US" sz="1500" dirty="0">
                          <a:solidFill>
                            <a:srgbClr val="1F6B63"/>
                          </a:solidFill>
                          <a:latin typeface="IBM Plex Sans" pitchFamily="34" charset="0"/>
                          <a:ea typeface="IBM Plex Sans" pitchFamily="34" charset="-122"/>
                          <a:cs typeface="IBM Plex Sans" pitchFamily="34" charset="-120"/>
                        </a:rPr>
                        <a:t>0.00016 K/day</a:t>
                      </a:r>
                      <a:endParaRPr lang="en-US" sz="1500" dirty="0">
                        <a:latin typeface="IBM Plex Sans" charset="0"/>
                        <a:ea typeface="IBM Plex Sans" charset="0"/>
                        <a:cs typeface="IBM Plex Sans" charset="0"/>
                      </a:endParaRPr>
                    </a:p>
                  </a:txBody>
                  <a:tcPr marL="127000" marR="127000" marT="101600" marB="101600" anchor="t">
                    <a:lnL w="12700" cap="flat" cmpd="sng" algn="ctr">
                      <a:solidFill>
                        <a:srgbClr val="CDCECC"/>
                      </a:solidFill>
                      <a:prstDash val="solid"/>
                      <a:round/>
                      <a:headEnd type="none" w="med" len="med"/>
                      <a:tailEnd type="none" w="med" len="med"/>
                    </a:lnL>
                    <a:lnR w="12700" cap="flat" cmpd="sng" algn="ctr">
                      <a:solidFill>
                        <a:srgbClr val="CDCECC"/>
                      </a:solidFill>
                      <a:prstDash val="solid"/>
                      <a:round/>
                      <a:headEnd type="none" w="med" len="med"/>
                      <a:tailEnd type="none" w="med" len="med"/>
                    </a:lnR>
                    <a:lnT w="12700" cap="flat" cmpd="sng" algn="ctr">
                      <a:solidFill>
                        <a:srgbClr val="CDCECC"/>
                      </a:solidFill>
                      <a:prstDash val="solid"/>
                      <a:round/>
                      <a:headEnd type="none" w="med" len="med"/>
                      <a:tailEnd type="none" w="med" len="med"/>
                    </a:lnT>
                    <a:lnB w="12700" cap="flat" cmpd="sng" algn="ctr">
                      <a:solidFill>
                        <a:srgbClr val="CDCECC"/>
                      </a:solidFill>
                      <a:prstDash val="solid"/>
                      <a:round/>
                      <a:headEnd type="none" w="med" len="med"/>
                      <a:tailEnd type="none" w="med" len="med"/>
                    </a:lnB>
                  </a:tcPr>
                </a:tc>
              </a:tr>
            </a:tbl>
          </a:graphicData>
        </a:graphic>
      </p:graphicFrame>
      <p:sp>
        <p:nvSpPr>
          <p:cNvPr id="4" name="Text 1"/>
          <p:cNvSpPr/>
          <p:nvPr/>
        </p:nvSpPr>
        <p:spPr>
          <a:xfrm>
            <a:off x="812800" y="3147020"/>
            <a:ext cx="504272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Measured against the float64 port on clear and cloudy columns, on CPU and on the Apple GPU (MPS).</a:t>
            </a:r>
            <a:endParaRPr lang="en-US" sz="1500" dirty="0"/>
          </a:p>
        </p:txBody>
      </p:sp>
      <p:sp>
        <p:nvSpPr>
          <p:cNvPr id="5" name="Shape 2"/>
          <p:cNvSpPr/>
          <p:nvPr/>
        </p:nvSpPr>
        <p:spPr>
          <a:xfrm>
            <a:off x="5965825" y="1537295"/>
            <a:ext cx="5410200" cy="2249140"/>
          </a:xfrm>
          <a:prstGeom prst="roundRect">
            <a:avLst>
              <a:gd name="adj" fmla="val 4376"/>
            </a:avLst>
          </a:prstGeom>
          <a:solidFill>
            <a:srgbClr val="FDFCF9"/>
          </a:solidFill>
          <a:ln w="6350">
            <a:solidFill>
              <a:srgbClr val="DDD8CC"/>
            </a:solidFill>
            <a:prstDash val="solid"/>
          </a:ln>
        </p:spPr>
      </p:sp>
      <p:sp>
        <p:nvSpPr>
          <p:cNvPr id="6" name="Text 3"/>
          <p:cNvSpPr/>
          <p:nvPr/>
        </p:nvSpPr>
        <p:spPr>
          <a:xfrm>
            <a:off x="6223000" y="1794470"/>
            <a:ext cx="504272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What changed</a:t>
            </a:r>
            <a:endParaRPr lang="en-US" sz="1800" dirty="0"/>
          </a:p>
        </p:txBody>
      </p:sp>
      <p:sp>
        <p:nvSpPr>
          <p:cNvPr id="7" name="Text 4"/>
          <p:cNvSpPr/>
          <p:nvPr/>
        </p:nvSpPr>
        <p:spPr>
          <a:xfrm>
            <a:off x="6223000" y="2195761"/>
            <a:ext cx="5042726" cy="13589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1 − exp(−x) terms rewritten without cancellation</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The λ = sec θ singularity handled by interpolation</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Co-albedo 1 − ω carried separately, for clouds</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MPS's inaccurate expm1 replaced</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Float64 keeps the exact Fortran formulas</a:t>
            </a:r>
            <a:endParaRPr lang="en-US" sz="15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7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On a laptop GPU, PySoc matches 3–6 Fortran cores</a:t>
            </a:r>
            <a:endParaRPr lang="en-US" sz="3200" dirty="0"/>
          </a:p>
        </p:txBody>
      </p:sp>
      <p:sp>
        <p:nvSpPr>
          <p:cNvPr id="3" name="Text 1"/>
          <p:cNvSpPr/>
          <p:nvPr/>
        </p:nvSpPr>
        <p:spPr>
          <a:xfrm>
            <a:off x="812800" y="13563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8192 columns × 40 layers on an Apple M3 Max. Fortran in Isca's chunks of 16 columns, split across processes; PySoc on the GPU in float32, compiled.</a:t>
            </a:r>
            <a:endParaRPr lang="en-US" sz="1500" dirty="0"/>
          </a:p>
        </p:txBody>
      </p:sp>
      <p:sp>
        <p:nvSpPr>
          <p:cNvPr id="4" name="Text 2"/>
          <p:cNvSpPr/>
          <p:nvPr/>
        </p:nvSpPr>
        <p:spPr>
          <a:xfrm>
            <a:off x="812800" y="23024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Clear sky, LW</a:t>
            </a:r>
            <a:endParaRPr lang="en-US" sz="1500" dirty="0"/>
          </a:p>
        </p:txBody>
      </p:sp>
      <p:sp>
        <p:nvSpPr>
          <p:cNvPr id="5" name="Shape 3"/>
          <p:cNvSpPr/>
          <p:nvPr/>
        </p:nvSpPr>
        <p:spPr>
          <a:xfrm>
            <a:off x="2717800" y="2143720"/>
            <a:ext cx="3333750" cy="177800"/>
          </a:xfrm>
          <a:prstGeom prst="roundRect">
            <a:avLst>
              <a:gd name="adj" fmla="val 14286"/>
            </a:avLst>
          </a:prstGeom>
          <a:solidFill>
            <a:srgbClr val="C9CFD3"/>
          </a:solidFill>
          <a:ln/>
        </p:spPr>
      </p:sp>
      <p:sp>
        <p:nvSpPr>
          <p:cNvPr id="6" name="Text 4"/>
          <p:cNvSpPr/>
          <p:nvPr/>
        </p:nvSpPr>
        <p:spPr>
          <a:xfrm>
            <a:off x="6153150" y="2148780"/>
            <a:ext cx="1562001"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 core: 0.70 s</a:t>
            </a:r>
            <a:endParaRPr lang="en-US" sz="1200" dirty="0"/>
          </a:p>
        </p:txBody>
      </p:sp>
      <p:sp>
        <p:nvSpPr>
          <p:cNvPr id="7" name="Shape 5"/>
          <p:cNvSpPr/>
          <p:nvPr/>
        </p:nvSpPr>
        <p:spPr>
          <a:xfrm>
            <a:off x="2717800" y="2346920"/>
            <a:ext cx="298450" cy="177800"/>
          </a:xfrm>
          <a:prstGeom prst="roundRect">
            <a:avLst>
              <a:gd name="adj" fmla="val 14286"/>
            </a:avLst>
          </a:prstGeom>
          <a:solidFill>
            <a:srgbClr val="5F6E7A"/>
          </a:solidFill>
          <a:ln/>
        </p:spPr>
      </p:sp>
      <p:sp>
        <p:nvSpPr>
          <p:cNvPr id="8" name="Text 6"/>
          <p:cNvSpPr/>
          <p:nvPr/>
        </p:nvSpPr>
        <p:spPr>
          <a:xfrm>
            <a:off x="3117850" y="2351980"/>
            <a:ext cx="1821376"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12 cores: 0.063 s</a:t>
            </a:r>
            <a:endParaRPr lang="en-US" sz="1200" dirty="0"/>
          </a:p>
        </p:txBody>
      </p:sp>
      <p:sp>
        <p:nvSpPr>
          <p:cNvPr id="9" name="Shape 7"/>
          <p:cNvSpPr/>
          <p:nvPr/>
        </p:nvSpPr>
        <p:spPr>
          <a:xfrm>
            <a:off x="2717800" y="2550120"/>
            <a:ext cx="527050" cy="177800"/>
          </a:xfrm>
          <a:prstGeom prst="roundRect">
            <a:avLst>
              <a:gd name="adj" fmla="val 14286"/>
            </a:avLst>
          </a:prstGeom>
          <a:solidFill>
            <a:srgbClr val="1F6B63"/>
          </a:solidFill>
          <a:ln/>
        </p:spPr>
      </p:sp>
      <p:sp>
        <p:nvSpPr>
          <p:cNvPr id="10" name="Text 8"/>
          <p:cNvSpPr/>
          <p:nvPr/>
        </p:nvSpPr>
        <p:spPr>
          <a:xfrm>
            <a:off x="3346450" y="2555180"/>
            <a:ext cx="2125560"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1F6B63"/>
                </a:solidFill>
                <a:latin typeface="IBM Plex Sans" pitchFamily="34" charset="0"/>
                <a:ea typeface="IBM Plex Sans" pitchFamily="34" charset="-122"/>
                <a:cs typeface="IBM Plex Sans" pitchFamily="34" charset="-120"/>
              </a:rPr>
              <a:t>PySoc, GPU: 0.11 s (≈ 6 cores)</a:t>
            </a:r>
            <a:endParaRPr lang="en-US" sz="1200" dirty="0"/>
          </a:p>
        </p:txBody>
      </p:sp>
      <p:sp>
        <p:nvSpPr>
          <p:cNvPr id="11" name="Text 9"/>
          <p:cNvSpPr/>
          <p:nvPr/>
        </p:nvSpPr>
        <p:spPr>
          <a:xfrm>
            <a:off x="812800" y="30136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Clear sky, SW</a:t>
            </a:r>
            <a:endParaRPr lang="en-US" sz="1500" dirty="0"/>
          </a:p>
        </p:txBody>
      </p:sp>
      <p:sp>
        <p:nvSpPr>
          <p:cNvPr id="12" name="Shape 10"/>
          <p:cNvSpPr/>
          <p:nvPr/>
        </p:nvSpPr>
        <p:spPr>
          <a:xfrm>
            <a:off x="2717800" y="2854920"/>
            <a:ext cx="2139950" cy="177800"/>
          </a:xfrm>
          <a:prstGeom prst="roundRect">
            <a:avLst>
              <a:gd name="adj" fmla="val 14286"/>
            </a:avLst>
          </a:prstGeom>
          <a:solidFill>
            <a:srgbClr val="C9CFD3"/>
          </a:solidFill>
          <a:ln/>
        </p:spPr>
      </p:sp>
      <p:sp>
        <p:nvSpPr>
          <p:cNvPr id="13" name="Text 11"/>
          <p:cNvSpPr/>
          <p:nvPr/>
        </p:nvSpPr>
        <p:spPr>
          <a:xfrm>
            <a:off x="4959350" y="2859980"/>
            <a:ext cx="1562001"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 core: 0.45 s</a:t>
            </a:r>
            <a:endParaRPr lang="en-US" sz="1200" dirty="0"/>
          </a:p>
        </p:txBody>
      </p:sp>
      <p:sp>
        <p:nvSpPr>
          <p:cNvPr id="14" name="Shape 12"/>
          <p:cNvSpPr/>
          <p:nvPr/>
        </p:nvSpPr>
        <p:spPr>
          <a:xfrm>
            <a:off x="2717800" y="3058120"/>
            <a:ext cx="196850" cy="177800"/>
          </a:xfrm>
          <a:prstGeom prst="roundRect">
            <a:avLst>
              <a:gd name="adj" fmla="val 14286"/>
            </a:avLst>
          </a:prstGeom>
          <a:solidFill>
            <a:srgbClr val="5F6E7A"/>
          </a:solidFill>
          <a:ln/>
        </p:spPr>
      </p:sp>
      <p:sp>
        <p:nvSpPr>
          <p:cNvPr id="15" name="Text 13"/>
          <p:cNvSpPr/>
          <p:nvPr/>
        </p:nvSpPr>
        <p:spPr>
          <a:xfrm>
            <a:off x="3016250" y="3063180"/>
            <a:ext cx="1821376"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12 cores: 0.041 s</a:t>
            </a:r>
            <a:endParaRPr lang="en-US" sz="1200" dirty="0"/>
          </a:p>
        </p:txBody>
      </p:sp>
      <p:sp>
        <p:nvSpPr>
          <p:cNvPr id="16" name="Shape 14"/>
          <p:cNvSpPr/>
          <p:nvPr/>
        </p:nvSpPr>
        <p:spPr>
          <a:xfrm>
            <a:off x="2717800" y="3261320"/>
            <a:ext cx="431800" cy="177800"/>
          </a:xfrm>
          <a:prstGeom prst="roundRect">
            <a:avLst>
              <a:gd name="adj" fmla="val 14286"/>
            </a:avLst>
          </a:prstGeom>
          <a:solidFill>
            <a:srgbClr val="1F6B63"/>
          </a:solidFill>
          <a:ln/>
        </p:spPr>
      </p:sp>
      <p:sp>
        <p:nvSpPr>
          <p:cNvPr id="17" name="Text 15"/>
          <p:cNvSpPr/>
          <p:nvPr/>
        </p:nvSpPr>
        <p:spPr>
          <a:xfrm>
            <a:off x="3251200" y="3266380"/>
            <a:ext cx="2219733"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1F6B63"/>
                </a:solidFill>
                <a:latin typeface="IBM Plex Sans" pitchFamily="34" charset="0"/>
                <a:ea typeface="IBM Plex Sans" pitchFamily="34" charset="-122"/>
                <a:cs typeface="IBM Plex Sans" pitchFamily="34" charset="-120"/>
              </a:rPr>
              <a:t>PySoc, GPU: 0.091 s (≈ 5 cores)</a:t>
            </a:r>
            <a:endParaRPr lang="en-US" sz="1200" dirty="0"/>
          </a:p>
        </p:txBody>
      </p:sp>
      <p:sp>
        <p:nvSpPr>
          <p:cNvPr id="18" name="Text 16"/>
          <p:cNvSpPr/>
          <p:nvPr/>
        </p:nvSpPr>
        <p:spPr>
          <a:xfrm>
            <a:off x="812800" y="37248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Cloudy, LW</a:t>
            </a:r>
            <a:endParaRPr lang="en-US" sz="1500" dirty="0"/>
          </a:p>
        </p:txBody>
      </p:sp>
      <p:sp>
        <p:nvSpPr>
          <p:cNvPr id="19" name="Shape 17"/>
          <p:cNvSpPr/>
          <p:nvPr/>
        </p:nvSpPr>
        <p:spPr>
          <a:xfrm>
            <a:off x="2717800" y="3566120"/>
            <a:ext cx="6350000" cy="177800"/>
          </a:xfrm>
          <a:prstGeom prst="roundRect">
            <a:avLst>
              <a:gd name="adj" fmla="val 14286"/>
            </a:avLst>
          </a:prstGeom>
          <a:solidFill>
            <a:srgbClr val="C9CFD3"/>
          </a:solidFill>
          <a:ln/>
        </p:spPr>
      </p:sp>
      <p:sp>
        <p:nvSpPr>
          <p:cNvPr id="20" name="Text 18"/>
          <p:cNvSpPr/>
          <p:nvPr/>
        </p:nvSpPr>
        <p:spPr>
          <a:xfrm>
            <a:off x="9169400" y="3571180"/>
            <a:ext cx="1562001"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 core: 1.33 s</a:t>
            </a:r>
            <a:endParaRPr lang="en-US" sz="1200" dirty="0"/>
          </a:p>
        </p:txBody>
      </p:sp>
      <p:sp>
        <p:nvSpPr>
          <p:cNvPr id="21" name="Shape 19"/>
          <p:cNvSpPr/>
          <p:nvPr/>
        </p:nvSpPr>
        <p:spPr>
          <a:xfrm>
            <a:off x="2717800" y="3769320"/>
            <a:ext cx="565150" cy="177800"/>
          </a:xfrm>
          <a:prstGeom prst="roundRect">
            <a:avLst>
              <a:gd name="adj" fmla="val 14286"/>
            </a:avLst>
          </a:prstGeom>
          <a:solidFill>
            <a:srgbClr val="5F6E7A"/>
          </a:solidFill>
          <a:ln/>
        </p:spPr>
      </p:sp>
      <p:sp>
        <p:nvSpPr>
          <p:cNvPr id="22" name="Text 20"/>
          <p:cNvSpPr/>
          <p:nvPr/>
        </p:nvSpPr>
        <p:spPr>
          <a:xfrm>
            <a:off x="3384550" y="3774380"/>
            <a:ext cx="1727696"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12 cores: 0.12 s</a:t>
            </a:r>
            <a:endParaRPr lang="en-US" sz="1200" dirty="0"/>
          </a:p>
        </p:txBody>
      </p:sp>
      <p:sp>
        <p:nvSpPr>
          <p:cNvPr id="23" name="Shape 21"/>
          <p:cNvSpPr/>
          <p:nvPr/>
        </p:nvSpPr>
        <p:spPr>
          <a:xfrm>
            <a:off x="2717800" y="3972520"/>
            <a:ext cx="1365250" cy="177800"/>
          </a:xfrm>
          <a:prstGeom prst="roundRect">
            <a:avLst>
              <a:gd name="adj" fmla="val 14286"/>
            </a:avLst>
          </a:prstGeom>
          <a:solidFill>
            <a:srgbClr val="1F6B63"/>
          </a:solidFill>
          <a:ln/>
        </p:spPr>
      </p:sp>
      <p:sp>
        <p:nvSpPr>
          <p:cNvPr id="24" name="Text 22"/>
          <p:cNvSpPr/>
          <p:nvPr/>
        </p:nvSpPr>
        <p:spPr>
          <a:xfrm>
            <a:off x="4184650" y="3977580"/>
            <a:ext cx="2125560"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1F6B63"/>
                </a:solidFill>
                <a:latin typeface="IBM Plex Sans" pitchFamily="34" charset="0"/>
                <a:ea typeface="IBM Plex Sans" pitchFamily="34" charset="-122"/>
                <a:cs typeface="IBM Plex Sans" pitchFamily="34" charset="-120"/>
              </a:rPr>
              <a:t>PySoc, GPU: 0.29 s (≈ 5 cores)</a:t>
            </a:r>
            <a:endParaRPr lang="en-US" sz="1200" dirty="0"/>
          </a:p>
        </p:txBody>
      </p:sp>
      <p:sp>
        <p:nvSpPr>
          <p:cNvPr id="25" name="Text 23"/>
          <p:cNvSpPr/>
          <p:nvPr/>
        </p:nvSpPr>
        <p:spPr>
          <a:xfrm>
            <a:off x="812800" y="4436070"/>
            <a:ext cx="18313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2B"/>
                </a:solidFill>
                <a:latin typeface="IBM Plex Sans" pitchFamily="34" charset="0"/>
                <a:ea typeface="IBM Plex Sans" pitchFamily="34" charset="-122"/>
                <a:cs typeface="IBM Plex Sans" pitchFamily="34" charset="-120"/>
              </a:rPr>
              <a:t>Cloudy, SW</a:t>
            </a:r>
            <a:endParaRPr lang="en-US" sz="1500" dirty="0"/>
          </a:p>
        </p:txBody>
      </p:sp>
      <p:sp>
        <p:nvSpPr>
          <p:cNvPr id="26" name="Shape 24"/>
          <p:cNvSpPr/>
          <p:nvPr/>
        </p:nvSpPr>
        <p:spPr>
          <a:xfrm>
            <a:off x="2717800" y="4277320"/>
            <a:ext cx="3778250" cy="177800"/>
          </a:xfrm>
          <a:prstGeom prst="roundRect">
            <a:avLst>
              <a:gd name="adj" fmla="val 14286"/>
            </a:avLst>
          </a:prstGeom>
          <a:solidFill>
            <a:srgbClr val="C9CFD3"/>
          </a:solidFill>
          <a:ln/>
        </p:spPr>
      </p:sp>
      <p:sp>
        <p:nvSpPr>
          <p:cNvPr id="27" name="Text 25"/>
          <p:cNvSpPr/>
          <p:nvPr/>
        </p:nvSpPr>
        <p:spPr>
          <a:xfrm>
            <a:off x="6597650" y="4282380"/>
            <a:ext cx="1562001"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 core: 0.79 s</a:t>
            </a:r>
            <a:endParaRPr lang="en-US" sz="1200" dirty="0"/>
          </a:p>
        </p:txBody>
      </p:sp>
      <p:sp>
        <p:nvSpPr>
          <p:cNvPr id="28" name="Shape 26"/>
          <p:cNvSpPr/>
          <p:nvPr/>
        </p:nvSpPr>
        <p:spPr>
          <a:xfrm>
            <a:off x="2717800" y="4480520"/>
            <a:ext cx="336550" cy="177800"/>
          </a:xfrm>
          <a:prstGeom prst="roundRect">
            <a:avLst>
              <a:gd name="adj" fmla="val 14286"/>
            </a:avLst>
          </a:prstGeom>
          <a:solidFill>
            <a:srgbClr val="5F6E7A"/>
          </a:solidFill>
          <a:ln/>
        </p:spPr>
      </p:sp>
      <p:sp>
        <p:nvSpPr>
          <p:cNvPr id="29" name="Text 27"/>
          <p:cNvSpPr/>
          <p:nvPr/>
        </p:nvSpPr>
        <p:spPr>
          <a:xfrm>
            <a:off x="3155950" y="4485580"/>
            <a:ext cx="1821376"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3D4852"/>
                </a:solidFill>
                <a:latin typeface="IBM Plex Sans" pitchFamily="34" charset="0"/>
                <a:ea typeface="IBM Plex Sans" pitchFamily="34" charset="-122"/>
                <a:cs typeface="IBM Plex Sans" pitchFamily="34" charset="-120"/>
              </a:rPr>
              <a:t>Fortran, 12 cores: 0.071 s</a:t>
            </a:r>
            <a:endParaRPr lang="en-US" sz="1200" dirty="0"/>
          </a:p>
        </p:txBody>
      </p:sp>
      <p:sp>
        <p:nvSpPr>
          <p:cNvPr id="30" name="Shape 28"/>
          <p:cNvSpPr/>
          <p:nvPr/>
        </p:nvSpPr>
        <p:spPr>
          <a:xfrm>
            <a:off x="2717800" y="4683720"/>
            <a:ext cx="1143000" cy="177800"/>
          </a:xfrm>
          <a:prstGeom prst="roundRect">
            <a:avLst>
              <a:gd name="adj" fmla="val 14286"/>
            </a:avLst>
          </a:prstGeom>
          <a:solidFill>
            <a:srgbClr val="1F6B63"/>
          </a:solidFill>
          <a:ln/>
        </p:spPr>
      </p:sp>
      <p:sp>
        <p:nvSpPr>
          <p:cNvPr id="31" name="Text 29"/>
          <p:cNvSpPr/>
          <p:nvPr/>
        </p:nvSpPr>
        <p:spPr>
          <a:xfrm>
            <a:off x="3962400" y="4688780"/>
            <a:ext cx="2125560" cy="193030"/>
          </a:xfrm>
          <a:prstGeom prst="rect">
            <a:avLst/>
          </a:prstGeom>
          <a:noFill/>
          <a:ln/>
        </p:spPr>
        <p:txBody>
          <a:bodyPr wrap="square" lIns="0" tIns="0" rIns="0" bIns="0" rtlCol="0" anchor="t">
            <a:normAutofit/>
          </a:bodyPr>
          <a:lstStyle/>
          <a:p>
            <a:pPr algn="l" indent="0" marL="0">
              <a:lnSpc>
                <a:spcPts val="1320"/>
              </a:lnSpc>
              <a:buNone/>
            </a:pPr>
            <a:r>
              <a:rPr lang="en-US" sz="1200" dirty="0">
                <a:solidFill>
                  <a:srgbClr val="1F6B63"/>
                </a:solidFill>
                <a:latin typeface="IBM Plex Sans" pitchFamily="34" charset="0"/>
                <a:ea typeface="IBM Plex Sans" pitchFamily="34" charset="-122"/>
                <a:cs typeface="IBM Plex Sans" pitchFamily="34" charset="-120"/>
              </a:rPr>
              <a:t>PySoc, GPU: 0.24 s (≈ 3 cores)</a:t>
            </a:r>
            <a:endParaRPr lang="en-US" sz="1200" dirty="0"/>
          </a:p>
        </p:txBody>
      </p:sp>
      <p:sp>
        <p:nvSpPr>
          <p:cNvPr id="32" name="Text 30"/>
          <p:cNvSpPr/>
          <p:nvPr/>
        </p:nvSpPr>
        <p:spPr>
          <a:xfrm>
            <a:off x="812800" y="51155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852"/>
                </a:solidFill>
                <a:latin typeface="IBM Plex Sans" pitchFamily="34" charset="0"/>
                <a:ea typeface="IBM Plex Sans" pitchFamily="34" charset="-122"/>
                <a:cs typeface="IBM Plex Sans" pitchFamily="34" charset="-120"/>
              </a:rPr>
              <a:t>Fortran scales almost linearly to the 12 performance cores, so on this machine PySoc's case is gradients and portability, not raw speed. CUDA is not yet measured.</a:t>
            </a:r>
            <a:endParaRPr lang="en-US" sz="15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8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4202B"/>
                </a:solidFill>
                <a:latin typeface="Source Serif 4" pitchFamily="34" charset="0"/>
                <a:ea typeface="Source Serif 4" pitchFamily="34" charset="-122"/>
                <a:cs typeface="Source Serif 4" pitchFamily="34" charset="-120"/>
              </a:rPr>
              <a:t>Findings, and what comes next</a:t>
            </a:r>
            <a:endParaRPr lang="en-US" sz="3200" dirty="0"/>
          </a:p>
        </p:txBody>
      </p:sp>
      <p:sp>
        <p:nvSpPr>
          <p:cNvPr id="3" name="Shape 1"/>
          <p:cNvSpPr/>
          <p:nvPr/>
        </p:nvSpPr>
        <p:spPr>
          <a:xfrm>
            <a:off x="815975" y="1537295"/>
            <a:ext cx="5149850" cy="3049240"/>
          </a:xfrm>
          <a:prstGeom prst="roundRect">
            <a:avLst>
              <a:gd name="adj" fmla="val 3228"/>
            </a:avLst>
          </a:prstGeom>
          <a:solidFill>
            <a:srgbClr val="FDFCF9"/>
          </a:solidFill>
          <a:ln w="6350">
            <a:solidFill>
              <a:srgbClr val="DDD8CC"/>
            </a:solidFill>
            <a:prstDash val="solid"/>
          </a:ln>
        </p:spPr>
      </p:sp>
      <p:sp>
        <p:nvSpPr>
          <p:cNvPr id="4" name="Text 2"/>
          <p:cNvSpPr/>
          <p:nvPr/>
        </p:nvSpPr>
        <p:spPr>
          <a:xfrm>
            <a:off x="1073150" y="1794470"/>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Findings about Isca and SOCRATES</a:t>
            </a:r>
            <a:endParaRPr lang="en-US" sz="1800" dirty="0"/>
          </a:p>
        </p:txBody>
      </p:sp>
      <p:sp>
        <p:nvSpPr>
          <p:cNvPr id="5" name="Text 3"/>
          <p:cNvSpPr/>
          <p:nvPr/>
        </p:nvSpPr>
        <p:spPr>
          <a:xfrm>
            <a:off x="1073150" y="2195761"/>
            <a:ext cx="4774565" cy="21590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Isca's inc_* gas switches do nothing: every gas in the spectral file is active.</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SOCRATES's batch-dependent cloud top changes results by round-off only.</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The LW Fortran itself moves by ~1e-7 W/m² under a one-ulp change in exp().</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The Apple GPU compiler miscompiled one kernel, so compiled kernels now check themselves.</a:t>
            </a:r>
            <a:endParaRPr lang="en-US" sz="1500" dirty="0"/>
          </a:p>
        </p:txBody>
      </p:sp>
      <p:sp>
        <p:nvSpPr>
          <p:cNvPr id="6" name="Shape 4"/>
          <p:cNvSpPr/>
          <p:nvPr/>
        </p:nvSpPr>
        <p:spPr>
          <a:xfrm>
            <a:off x="6226175" y="1537295"/>
            <a:ext cx="5149850" cy="3049240"/>
          </a:xfrm>
          <a:prstGeom prst="roundRect">
            <a:avLst>
              <a:gd name="adj" fmla="val 3228"/>
            </a:avLst>
          </a:prstGeom>
          <a:solidFill>
            <a:srgbClr val="FDFCF9"/>
          </a:solidFill>
          <a:ln w="6350">
            <a:solidFill>
              <a:srgbClr val="DDD8CC"/>
            </a:solidFill>
            <a:prstDash val="solid"/>
          </a:ln>
        </p:spPr>
      </p:sp>
      <p:sp>
        <p:nvSpPr>
          <p:cNvPr id="7" name="Text 5"/>
          <p:cNvSpPr/>
          <p:nvPr/>
        </p:nvSpPr>
        <p:spPr>
          <a:xfrm>
            <a:off x="6483350" y="1794470"/>
            <a:ext cx="477456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Not yet ported, and next steps</a:t>
            </a:r>
            <a:endParaRPr lang="en-US" sz="1800" dirty="0"/>
          </a:p>
        </p:txBody>
      </p:sp>
      <p:sp>
        <p:nvSpPr>
          <p:cNvPr id="8" name="Text 6"/>
          <p:cNvSpPr/>
          <p:nvPr/>
        </p:nvSpPr>
        <p:spPr>
          <a:xfrm>
            <a:off x="6483350" y="2195761"/>
            <a:ext cx="4774565" cy="21590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Not ported: solar geometry, ozone and CO2 file input, radiation time-stepping, ice clouds.</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Other spectral files (e.g. GA9) and the SES2 gas overlap.</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Benchmark on CUDA, and profile the GPU path, which trails 12-core Fortran.</a:t>
            </a:r>
            <a:endParaRPr lang="en-US" sz="1500" dirty="0"/>
          </a:p>
          <a:p>
            <a:pPr algn="l" marL="342900" indent="-342900">
              <a:lnSpc>
                <a:spcPts val="2100"/>
              </a:lnSpc>
              <a:buSzPct val="100000"/>
              <a:buChar char="•"/>
            </a:pPr>
            <a:r>
              <a:rPr lang="en-US" sz="1500" dirty="0">
                <a:solidFill>
                  <a:srgbClr val="3D4852"/>
                </a:solidFill>
                <a:latin typeface="IBM Plex Sans" pitchFamily="34" charset="0"/>
                <a:ea typeface="IBM Plex Sans" pitchFamily="34" charset="-122"/>
                <a:cs typeface="IBM Plex Sans" pitchFamily="34" charset="-120"/>
              </a:rPr>
              <a:t>[Planned use: e.g. coupling into Isca, or training an emulator]</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0"/>
                </a:solidFill>
                <a:latin typeface="IBM Plex Sans" pitchFamily="34" charset="0"/>
                <a:ea typeface="IBM Plex Sans" pitchFamily="34" charset="-122"/>
                <a:cs typeface="IBM Plex Sans" pitchFamily="34" charset="-120"/>
              </a:rPr>
              <a:t>PySoc · 9 / 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PySoc: SOCRATES in PyTorch</dc:title>
  <dc:subject>PptxGenJS Presentation</dc:subject>
  <dc:creator>PptxGenJS</dc:creator>
  <cp:lastModifiedBy>PptxGenJS</cp:lastModifiedBy>
  <cp:revision>1</cp:revision>
  <dcterms:created xsi:type="dcterms:W3CDTF">2026-09-17T05:28:12Z</dcterms:created>
  <dcterms:modified xsi:type="dcterms:W3CDTF">2026-09-17T05:28:12Z</dcterms:modified>
</cp:coreProperties>
</file>